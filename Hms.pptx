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9" autoAdjust="0"/>
    <p:restoredTop sz="94322" autoAdjust="0"/>
  </p:normalViewPr>
  <p:slideViewPr>
    <p:cSldViewPr snapToGrid="0">
      <p:cViewPr>
        <p:scale>
          <a:sx n="50" d="100"/>
          <a:sy n="50" d="100"/>
        </p:scale>
        <p:origin x="135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3501430"/>
            <a:ext cx="7766936" cy="1646302"/>
          </a:xfrm>
        </p:spPr>
        <p:txBody>
          <a:bodyPr/>
          <a:lstStyle/>
          <a:p>
            <a:pPr algn="ctr"/>
            <a:r>
              <a:rPr lang="en-US" sz="3200" dirty="0" smtClean="0"/>
              <a:t>Addis Ababa Science &amp; Technology University</a:t>
            </a:r>
            <a:br>
              <a:rPr lang="en-US" sz="3200" dirty="0" smtClean="0"/>
            </a:br>
            <a:r>
              <a:rPr lang="en-US" sz="3200" dirty="0"/>
              <a:t>Department of Software Engineering</a:t>
            </a:r>
            <a:br>
              <a:rPr lang="en-US" sz="3200" dirty="0"/>
            </a:br>
            <a:r>
              <a:rPr lang="en-US" sz="3200" dirty="0"/>
              <a:t>Database System Course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endParaRPr lang="en-US" sz="2800" dirty="0" smtClean="0"/>
          </a:p>
          <a:p>
            <a:pPr algn="ctr"/>
            <a:r>
              <a:rPr lang="en-US" sz="2800" b="1" dirty="0" smtClean="0"/>
              <a:t>Hospital Management System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5658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and Background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92932"/>
            <a:ext cx="8596668" cy="46030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</a:rPr>
              <a:t>Hospital Profile:</a:t>
            </a:r>
          </a:p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350-bed specialized hospital in Addis Ababa, Ethiopia. </a:t>
            </a:r>
          </a:p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More than 10 clinical departments: Internal Medicine, Surgery, Pediatrics, OB/GYN, Orthopedics, Neurology, Cardiology, etc.</a:t>
            </a:r>
          </a:p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Daily Operations:</a:t>
            </a:r>
          </a:p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400-500 outpatient visits</a:t>
            </a:r>
          </a:p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80-120 inpatients at any given time</a:t>
            </a:r>
          </a:p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More than 30 surgical procedures daily</a:t>
            </a:r>
          </a:p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1200 staff members(physicians, nurses, lab technicians, </a:t>
            </a:r>
            <a:r>
              <a:rPr lang="en-US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pharmacitsts</a:t>
            </a: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admin)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Current State of Information Systems:</a:t>
            </a:r>
          </a:p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Heavy reliance on 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manual and semi-automated</a:t>
            </a: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data processing</a:t>
            </a:r>
          </a:p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Disconnected spreadsheets and paper-based filing systems</a:t>
            </a:r>
          </a:p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 few stand –alone applications that 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 not communicate</a:t>
            </a: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with each other </a:t>
            </a:r>
          </a:p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Significant inefficiencies in daily operations.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7831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The Hospital faces data management challenges </a:t>
            </a:r>
            <a:r>
              <a:rPr lang="en-US" dirty="0" smtClean="0"/>
              <a:t>that directly impact:</a:t>
            </a:r>
          </a:p>
          <a:p>
            <a:r>
              <a:rPr lang="en-US" dirty="0" smtClean="0"/>
              <a:t>Quality of the healthcare delivery</a:t>
            </a:r>
          </a:p>
          <a:p>
            <a:r>
              <a:rPr lang="en-US" dirty="0" smtClean="0"/>
              <a:t>Operational efficiency</a:t>
            </a:r>
          </a:p>
          <a:p>
            <a:r>
              <a:rPr lang="en-US" dirty="0" smtClean="0"/>
              <a:t>Patient safety</a:t>
            </a:r>
          </a:p>
          <a:p>
            <a:pPr marL="0" indent="0">
              <a:buNone/>
            </a:pPr>
            <a:r>
              <a:rPr lang="en-US" b="1" dirty="0" smtClean="0"/>
              <a:t>Root Cause: </a:t>
            </a:r>
            <a:r>
              <a:rPr lang="en-US" dirty="0" smtClean="0"/>
              <a:t>heavy reliance on paper-based records, disconnected spreadsheets, and stand alone applications that do  not communicate effectively across departments.</a:t>
            </a:r>
          </a:p>
          <a:p>
            <a:pPr marL="0" indent="0">
              <a:buNone/>
            </a:pPr>
            <a:r>
              <a:rPr lang="en-US" b="1" dirty="0" smtClean="0"/>
              <a:t>Consequence: </a:t>
            </a:r>
            <a:r>
              <a:rPr lang="en-US" dirty="0" smtClean="0"/>
              <a:t>Critical hospital operations are inefficient, time consuming, and vulnerable to errors.</a:t>
            </a:r>
          </a:p>
          <a:p>
            <a:pPr marL="0" indent="0">
              <a:buNone/>
            </a:pPr>
            <a:r>
              <a:rPr lang="en-US" i="1" dirty="0"/>
              <a:t>"To address these challenges, the hospital should implement a centralized and integrated Hospital Management Information System (HMIS) supported by a relational database management system</a:t>
            </a:r>
            <a:r>
              <a:rPr lang="en-US" i="1" dirty="0" smtClean="0"/>
              <a:t>.“ – mentioned in our assignment.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864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 – Critical Problems Identified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007452"/>
              </p:ext>
            </p:extLst>
          </p:nvPr>
        </p:nvGraphicFramePr>
        <p:xfrm>
          <a:off x="677334" y="1930400"/>
          <a:ext cx="8596312" cy="389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/>
                <a:gridCol w="429815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PROBLEM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IMPACT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b="1" dirty="0" smtClean="0"/>
                        <a:t>Fragmented Patient Records </a:t>
                      </a:r>
                      <a:r>
                        <a:rPr lang="en-US" sz="1500" dirty="0" smtClean="0"/>
                        <a:t>– Data scattered across</a:t>
                      </a:r>
                      <a:r>
                        <a:rPr lang="en-US" sz="1500" baseline="0" dirty="0" smtClean="0"/>
                        <a:t> paper files in different departments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Duplicate tests, missing history, medication conflicts</a:t>
                      </a:r>
                      <a:endParaRPr 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b="1" dirty="0" smtClean="0"/>
                        <a:t>Inefficient</a:t>
                      </a:r>
                      <a:r>
                        <a:rPr lang="en-US" sz="1500" b="1" baseline="0" dirty="0" smtClean="0"/>
                        <a:t> Appointment Scheduling </a:t>
                      </a:r>
                      <a:r>
                        <a:rPr lang="en-US" sz="1500" baseline="0" dirty="0" smtClean="0"/>
                        <a:t>– Manual logbook management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Double-booking, 4-6 hour wait times, doctors lose 20-30% of scheduled time</a:t>
                      </a:r>
                      <a:endParaRPr 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b="1" dirty="0" smtClean="0"/>
                        <a:t>Laboratory Result Delays </a:t>
                      </a:r>
                      <a:r>
                        <a:rPr lang="en-US" sz="1500" dirty="0" smtClean="0"/>
                        <a:t>– paper based test orders</a:t>
                      </a:r>
                      <a:r>
                        <a:rPr lang="en-US" sz="1500" baseline="0" dirty="0" smtClean="0"/>
                        <a:t> and manual result delivery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24-27 hour</a:t>
                      </a:r>
                      <a:r>
                        <a:rPr lang="en-US" sz="1500" baseline="0" dirty="0" smtClean="0"/>
                        <a:t> delays for routine tests, slowing diagnosis and treatment</a:t>
                      </a:r>
                      <a:endParaRPr 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b="1" dirty="0" smtClean="0"/>
                        <a:t>Pharmacy Inventory Mismanagement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0" baseline="0" dirty="0" smtClean="0"/>
                        <a:t>-</a:t>
                      </a:r>
                      <a:r>
                        <a:rPr lang="en-US" sz="1500" baseline="0" dirty="0" smtClean="0"/>
                        <a:t> Manual stock tracking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Frequent stock outs, undetected expired medications</a:t>
                      </a:r>
                      <a:endParaRPr 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Lack of Analytic &amp; </a:t>
                      </a:r>
                      <a:r>
                        <a:rPr lang="en-US" sz="1500" dirty="0" err="1" smtClean="0"/>
                        <a:t>Repoting</a:t>
                      </a:r>
                      <a:r>
                        <a:rPr lang="en-US" sz="1500" dirty="0" smtClean="0"/>
                        <a:t> Capabilities -</a:t>
                      </a:r>
                      <a:r>
                        <a:rPr lang="en-US" sz="1500" dirty="0" smtClean="0"/>
                        <a:t>No centralized data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No real time reports on bed occupancy, disease prevalence, doctor productivity, or finances</a:t>
                      </a:r>
                      <a:endParaRPr 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 smtClean="0"/>
                        <a:t>Data Redundancy &amp; Inconsistency </a:t>
                      </a:r>
                      <a:r>
                        <a:rPr lang="en-US" sz="1500" dirty="0" smtClean="0"/>
                        <a:t>-  Repeated</a:t>
                      </a:r>
                      <a:r>
                        <a:rPr lang="en-US" sz="1500" baseline="0" dirty="0" smtClean="0"/>
                        <a:t> data entry without validation/synchronization</a:t>
                      </a:r>
                      <a:endParaRPr lang="en-US" sz="15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Contradictory records(</a:t>
                      </a:r>
                      <a:r>
                        <a:rPr lang="en-US" sz="1500" dirty="0" err="1" smtClean="0"/>
                        <a:t>eg</a:t>
                      </a:r>
                      <a:r>
                        <a:rPr lang="en-US" sz="1500" dirty="0" smtClean="0"/>
                        <a:t>., different blood types for the same patient in different departments)</a:t>
                      </a:r>
                      <a:endParaRPr lang="en-US" sz="15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074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14075"/>
            <a:ext cx="8596668" cy="1320800"/>
          </a:xfrm>
        </p:spPr>
        <p:txBody>
          <a:bodyPr/>
          <a:lstStyle/>
          <a:p>
            <a:r>
              <a:rPr lang="en-US" dirty="0" smtClean="0"/>
              <a:t>Objectives and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774475"/>
            <a:ext cx="8596668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b="1" dirty="0" smtClean="0"/>
              <a:t>General Objective:</a:t>
            </a:r>
          </a:p>
          <a:p>
            <a:r>
              <a:rPr lang="en-US" sz="1600" dirty="0"/>
              <a:t>To design and implement an integrated database system for  the hospital that centralizes patient, medical, administrative, and financial data to improve healthcare delivery, operational efficiency, and decision-making capabilities.</a:t>
            </a:r>
          </a:p>
          <a:p>
            <a:r>
              <a:rPr lang="en-US" sz="1500" b="1" dirty="0" smtClean="0"/>
              <a:t>Specific Objectives: </a:t>
            </a:r>
          </a:p>
          <a:p>
            <a:pPr>
              <a:buFont typeface="+mj-lt"/>
              <a:buAutoNum type="arabicPeriod"/>
            </a:pPr>
            <a:r>
              <a:rPr lang="en-US" sz="1500" dirty="0" smtClean="0"/>
              <a:t>Design a relational database schema for all hospital operations</a:t>
            </a:r>
          </a:p>
          <a:p>
            <a:pPr>
              <a:buFont typeface="+mj-lt"/>
              <a:buAutoNum type="arabicPeriod"/>
            </a:pPr>
            <a:r>
              <a:rPr lang="en-US" sz="1500" dirty="0" smtClean="0"/>
              <a:t>Implementation the database in MYSQL with proper constraints, relationships, and indexing</a:t>
            </a:r>
          </a:p>
          <a:p>
            <a:pPr>
              <a:buFont typeface="+mj-lt"/>
              <a:buAutoNum type="arabicPeriod"/>
            </a:pPr>
            <a:r>
              <a:rPr lang="en-US" sz="1500" dirty="0" smtClean="0"/>
              <a:t>Design a </a:t>
            </a:r>
            <a:r>
              <a:rPr lang="en-US" sz="1500" dirty="0" err="1"/>
              <a:t>M</a:t>
            </a:r>
            <a:r>
              <a:rPr lang="en-US" sz="1500" dirty="0" err="1" smtClean="0"/>
              <a:t>ongoDB</a:t>
            </a:r>
            <a:r>
              <a:rPr lang="en-US" sz="1500" dirty="0" smtClean="0"/>
              <a:t> schema for semi-structured medical data </a:t>
            </a:r>
          </a:p>
          <a:p>
            <a:pPr>
              <a:buFont typeface="+mj-lt"/>
              <a:buAutoNum type="arabicPeriod"/>
            </a:pPr>
            <a:r>
              <a:rPr lang="en-US" sz="1500" dirty="0" smtClean="0"/>
              <a:t>Create realistic sample datasets and implement SQL/</a:t>
            </a:r>
            <a:r>
              <a:rPr lang="en-US" sz="1500" dirty="0" err="1" smtClean="0"/>
              <a:t>MongoDB</a:t>
            </a:r>
            <a:r>
              <a:rPr lang="en-US" sz="1500" dirty="0" smtClean="0"/>
              <a:t> queries</a:t>
            </a:r>
          </a:p>
          <a:p>
            <a:pPr>
              <a:buFont typeface="+mj-lt"/>
              <a:buAutoNum type="arabicPeriod"/>
            </a:pPr>
            <a:r>
              <a:rPr lang="en-US" sz="1500" dirty="0" smtClean="0"/>
              <a:t>Design input forms and out put reports</a:t>
            </a:r>
          </a:p>
          <a:p>
            <a:pPr>
              <a:buFont typeface="+mj-lt"/>
              <a:buAutoNum type="arabicPeriod"/>
            </a:pPr>
            <a:r>
              <a:rPr lang="en-US" sz="1500" dirty="0" smtClean="0"/>
              <a:t>Test for data integrity, performance and query correctness</a:t>
            </a:r>
            <a:endParaRPr lang="en-US" sz="1500" dirty="0"/>
          </a:p>
          <a:p>
            <a:pPr>
              <a:buFont typeface="+mj-lt"/>
              <a:buAutoNum type="arabicPeriod"/>
            </a:pPr>
            <a:r>
              <a:rPr lang="en-US" sz="1500" dirty="0" smtClean="0"/>
              <a:t>Compare relational (MYSQL) vs document-oriented (</a:t>
            </a:r>
            <a:r>
              <a:rPr lang="en-US" sz="1500" dirty="0" err="1" smtClean="0"/>
              <a:t>MongoDB</a:t>
            </a:r>
            <a:r>
              <a:rPr lang="en-US" sz="1500" dirty="0" smtClean="0"/>
              <a:t>) approaches</a:t>
            </a:r>
          </a:p>
          <a:p>
            <a:pPr marL="0" indent="0">
              <a:buNone/>
            </a:pPr>
            <a:r>
              <a:rPr lang="en-US" sz="1500" b="1" dirty="0" smtClean="0"/>
              <a:t>Scope:</a:t>
            </a:r>
          </a:p>
          <a:p>
            <a:pPr marL="0" indent="0">
              <a:buNone/>
            </a:pPr>
            <a:endParaRPr lang="en-US" sz="1500" b="1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055926"/>
              </p:ext>
            </p:extLst>
          </p:nvPr>
        </p:nvGraphicFramePr>
        <p:xfrm>
          <a:off x="809830" y="4425516"/>
          <a:ext cx="4761865" cy="22987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2225"/>
                <a:gridCol w="3469640"/>
              </a:tblGrid>
              <a:tr h="23368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Scope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In-Scope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0927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Departments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Internal Medicine, Surgery, Pediatrics, Orthopedics, Cardiology, Neurology, Laboratory, Pharmacy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7627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Functions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Patient registration, appointment scheduling, admission/discharge, diagnosis recording, prescription, lab orders, billing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4099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Users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Doctors, nurses, receptionists, lab technicians, pharmacists, billing clerks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368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Platform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MySQL 8.0+, MongoDB 6.0+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4066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Sample data (5–10 records per entity)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839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&amp;Tools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7334" y="1391332"/>
            <a:ext cx="8596668" cy="3880773"/>
          </a:xfrm>
        </p:spPr>
        <p:txBody>
          <a:bodyPr/>
          <a:lstStyle/>
          <a:p>
            <a:pPr marL="0" lvl="0" indent="0">
              <a:buNone/>
            </a:pPr>
            <a:r>
              <a:rPr lang="en-US" dirty="0" smtClean="0"/>
              <a:t>Development Methodology: Waterfall-based Database Development Life Cycle</a:t>
            </a:r>
          </a:p>
          <a:p>
            <a:pPr lvl="0"/>
            <a:r>
              <a:rPr lang="en-US" sz="1600" dirty="0" smtClean="0"/>
              <a:t>Requirements collection &amp; Analysis , conceptual Database Design, Logical Database Design, Physical Database(Implement), Testing &amp; Refinement.</a:t>
            </a:r>
          </a:p>
          <a:p>
            <a:pPr marL="0" lvl="0" indent="0">
              <a:buNone/>
            </a:pPr>
            <a:r>
              <a:rPr lang="en-US" dirty="0" smtClean="0"/>
              <a:t>Tools &amp; Technologies: </a:t>
            </a:r>
          </a:p>
          <a:p>
            <a:pPr lvl="0"/>
            <a:endParaRPr lang="en-US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05256"/>
              </p:ext>
            </p:extLst>
          </p:nvPr>
        </p:nvGraphicFramePr>
        <p:xfrm>
          <a:off x="1091406" y="2850215"/>
          <a:ext cx="5534026" cy="26250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6488"/>
                <a:gridCol w="1604544"/>
                <a:gridCol w="2442994"/>
              </a:tblGrid>
              <a:tr h="25336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Category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Tool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Purposes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5336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RDBMS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MySQL 8.0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Relational database implementation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5336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NoSQL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MongoDB 6.0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Document database implementation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5336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ER Modeling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draw.io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Creating ERD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5336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MySQL Client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MySQL Workbench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SQL execution and administration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5336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MongoDB Client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MongoDB Compass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MongoDB GUI and query execution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5336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Version Control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Git / GitHub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Source code management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5336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Communication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Telegram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Group Coordination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09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Presentation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MS PowerPoint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Final Presentation slides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60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Conceptual Database Design - Entities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r>
              <a:rPr lang="en-US" dirty="0" smtClean="0"/>
              <a:t>There are 16 core entities</a:t>
            </a:r>
          </a:p>
          <a:p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07824" y="1757817"/>
            <a:ext cx="3461237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535653"/>
              </p:ext>
            </p:extLst>
          </p:nvPr>
        </p:nvGraphicFramePr>
        <p:xfrm>
          <a:off x="907823" y="1663986"/>
          <a:ext cx="7365319" cy="51523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6589"/>
                <a:gridCol w="4608730"/>
              </a:tblGrid>
              <a:tr h="17378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Entity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Attributes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20253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Department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dept_id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dept_name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Location,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Phone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5443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Doctor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doctor_id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first_name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last_name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specialization,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hire_date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phone,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Email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3174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Nurse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nurse_id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first_name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last_name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phone,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email,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Shift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55697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Patient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patient_id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first_name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last_name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gender,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dob,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phone,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email,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address,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blood_type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emergency_contact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emergency_phone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3174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Appointment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appointment_id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appt_date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appt_time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status,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Reason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3174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Medical Case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case_id</a:t>
                      </a:r>
                      <a:r>
                        <a:rPr lang="en-US" sz="1200" dirty="0" smtClean="0">
                          <a:effectLst/>
                        </a:rPr>
                        <a:t>, diagnosis,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treatment_plan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start_date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end_date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Status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3174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Medication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medication_id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med_name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dosage_form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unit,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description,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stock_qty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4757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Medical Record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record_id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diagnosis_date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symptoms,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diagnosis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smtClean="0">
                          <a:effectLst/>
                        </a:rPr>
                        <a:t>Notes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20253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Room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room_id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room_type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bed_count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Status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3174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Ward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ward_id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ward_name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ward_type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Floor,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Capacity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3174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Payment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payment_id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amount,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payment_date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payment_method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Status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3174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Admission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admission_id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admission_date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discharge_date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status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20253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prescription_id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frequency,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duration,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quantity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20253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Lab Test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test_id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test_name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description,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Cost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17378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Lab Order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order_id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order_date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Status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3174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Lab Result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result_id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result_value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result_date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is_normal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Notes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157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791" y="174171"/>
            <a:ext cx="8596668" cy="1320800"/>
          </a:xfrm>
        </p:spPr>
        <p:txBody>
          <a:bodyPr/>
          <a:lstStyle/>
          <a:p>
            <a:r>
              <a:rPr lang="en-US" dirty="0" smtClean="0"/>
              <a:t>Conceptual Database Design- Relationships ERD</a:t>
            </a:r>
            <a:endParaRPr lang="en-US" dirty="0"/>
          </a:p>
        </p:txBody>
      </p:sp>
      <p:graphicFrame>
        <p:nvGraphicFramePr>
          <p:cNvPr id="26" name="Content Placeholder 2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503443"/>
              </p:ext>
            </p:extLst>
          </p:nvPr>
        </p:nvGraphicFramePr>
        <p:xfrm>
          <a:off x="766838" y="1333274"/>
          <a:ext cx="8330573" cy="5303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6095"/>
                <a:gridCol w="1754120"/>
                <a:gridCol w="3370358"/>
              </a:tblGrid>
              <a:tr h="8862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Relationship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Cardinality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Department employs Doctor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1:M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department can employ many doctors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Department employs Nurse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1:M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department can employ many nurses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Ward contains Room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1:M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ward contains many rooms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23705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Patient treated by doctor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M:N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 patient can be treated by many doctors and a doctor can treat many patients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Medical_case managed by doctor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M:1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Many medical cases can be handled by one doctor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Patient books Appointment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1:M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patient can book many Appointments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Doctor attends appointment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1:M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doctor can attend many Appointments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Medical_Case belongs to Patient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M:1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Many medical cases can belong to one patient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3160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Patient admitted to room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M:N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 patient may stay in many rooms over time and a room may host many patients over time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Doctor supervises Admission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1:M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doctor can supervise many admissions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Patient has Medical_Record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1:M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patient can have many medical records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Doctor creates Medical_Record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1:M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doctor can create many medical records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23705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Admission linked to Medical_Record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1:M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admission can generate many medical records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3160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Medical_Record contains Medication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M:N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medical record can include many medications and one medication can appear in many records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3160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Patient requests Lab_Test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M:N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patient can take many lab tests and one lab test can be taken by many patients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3160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Doctor orders Lab_Test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M:N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doctor can order many lab tests and one lab test can be ordered by many doctors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Lab_Test produces Lab_Result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1:M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lab test can produce many results over time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Patient makes Payment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1:M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One patient can make many payments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  <a:tr h="158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Admission linked to payment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1:M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One admission can have many payments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631" marR="29631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856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791" y="203200"/>
            <a:ext cx="8596668" cy="1320800"/>
          </a:xfrm>
        </p:spPr>
        <p:txBody>
          <a:bodyPr/>
          <a:lstStyle/>
          <a:p>
            <a:r>
              <a:rPr lang="en-US" dirty="0" smtClean="0"/>
              <a:t>Logical Database Design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724174"/>
              </p:ext>
            </p:extLst>
          </p:nvPr>
        </p:nvGraphicFramePr>
        <p:xfrm>
          <a:off x="633791" y="863600"/>
          <a:ext cx="9656838" cy="56970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28419"/>
                <a:gridCol w="4828419"/>
              </a:tblGrid>
              <a:tr h="4489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Entity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Attributes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17959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Department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dept_id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dept_name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Location,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Phone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591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Doctor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doctor_id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first_name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last_name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specialization,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hire_date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phone,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Email,dept_id</a:t>
                      </a:r>
                      <a:r>
                        <a:rPr lang="en-US" sz="1200" dirty="0" smtClean="0">
                          <a:effectLst/>
                        </a:rPr>
                        <a:t>(FK)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1428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Nurse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nurse_id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first_name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last_name,dept_id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phone,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email,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Shift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49387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Patient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patient_id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first_name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last_name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gender,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dob,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phone,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email,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address,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blood_type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emergency_contact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emergency_phone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591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Appointment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appointment_id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dirty="0" err="1" smtClean="0">
                          <a:effectLst/>
                        </a:rPr>
                        <a:t>patient_id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dirty="0" err="1" smtClean="0">
                          <a:effectLst/>
                        </a:rPr>
                        <a:t>doctor_id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appt_date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appt_time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status,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Reason,case</a:t>
                      </a:r>
                      <a:r>
                        <a:rPr lang="en-US" sz="1200" dirty="0" smtClean="0">
                          <a:effectLst/>
                        </a:rPr>
                        <a:t>(FK)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591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Medical Case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case_id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dirty="0" err="1" smtClean="0">
                          <a:effectLst/>
                        </a:rPr>
                        <a:t>patient_id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dirty="0" err="1" smtClean="0">
                          <a:effectLst/>
                        </a:rPr>
                        <a:t>doctor_id</a:t>
                      </a:r>
                      <a:r>
                        <a:rPr lang="en-US" sz="1200" dirty="0" smtClean="0">
                          <a:effectLst/>
                        </a:rPr>
                        <a:t>(FK), </a:t>
                      </a:r>
                      <a:r>
                        <a:rPr lang="en-US" sz="1200" dirty="0" smtClean="0">
                          <a:effectLst/>
                        </a:rPr>
                        <a:t>diagnosis,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treatment_plan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start_date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end_date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Status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26938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Medication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medication_id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med_name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dosage_form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unit,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description,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stock_qty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591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Medical Record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record_id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dirty="0" err="1" smtClean="0">
                          <a:effectLst/>
                        </a:rPr>
                        <a:t>patient_id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dirty="0" err="1" smtClean="0">
                          <a:effectLst/>
                        </a:rPr>
                        <a:t>doctor_id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dirty="0" err="1" smtClean="0">
                          <a:effectLst/>
                        </a:rPr>
                        <a:t>admission_id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diagnosis_date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symptoms,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diagnosis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smtClean="0">
                          <a:effectLst/>
                        </a:rPr>
                        <a:t>notes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1428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Room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room_id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dirty="0" err="1" smtClean="0">
                          <a:effectLst/>
                        </a:rPr>
                        <a:t>ward_id</a:t>
                      </a:r>
                      <a:r>
                        <a:rPr lang="en-US" sz="1200" dirty="0" smtClean="0">
                          <a:effectLst/>
                        </a:rPr>
                        <a:t>(FK)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room_type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bed_count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Status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26938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Ward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ward_id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ward_name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ward_type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Floor,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Capacity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591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Payment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payment_id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dirty="0" err="1" smtClean="0">
                          <a:effectLst/>
                        </a:rPr>
                        <a:t>patient_id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dirty="0" err="1" smtClean="0">
                          <a:effectLst/>
                        </a:rPr>
                        <a:t>admission_id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amount,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payment_date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payment_method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Status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3591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Admission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admission_id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dirty="0" err="1" smtClean="0">
                          <a:effectLst/>
                        </a:rPr>
                        <a:t>patient_id</a:t>
                      </a:r>
                      <a:r>
                        <a:rPr lang="en-US" sz="1200" dirty="0" smtClean="0">
                          <a:effectLst/>
                        </a:rPr>
                        <a:t>(FK), </a:t>
                      </a:r>
                      <a:r>
                        <a:rPr lang="en-US" sz="1200" dirty="0" err="1" smtClean="0">
                          <a:effectLst/>
                        </a:rPr>
                        <a:t>doctor_id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dirty="0" err="1" smtClean="0">
                          <a:effectLst/>
                        </a:rPr>
                        <a:t>room_id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admission_date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discharge_date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status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26938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prescription_id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dirty="0" err="1" smtClean="0">
                          <a:effectLst/>
                        </a:rPr>
                        <a:t>record_id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dirty="0" err="1" smtClean="0">
                          <a:effectLst/>
                        </a:rPr>
                        <a:t>medication_id</a:t>
                      </a:r>
                      <a:r>
                        <a:rPr lang="en-US" sz="1200" dirty="0" smtClean="0">
                          <a:effectLst/>
                        </a:rPr>
                        <a:t>(FK</a:t>
                      </a:r>
                      <a:br>
                        <a:rPr lang="en-US" sz="1200" dirty="0" smtClean="0">
                          <a:effectLst/>
                        </a:rPr>
                      </a:br>
                      <a:r>
                        <a:rPr lang="en-US" sz="1200" dirty="0" smtClean="0">
                          <a:effectLst/>
                        </a:rPr>
                        <a:t>)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frequency,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duration,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quantity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17959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Lab Test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test_id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test_name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description,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Cost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26938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Lab Order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order_id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dirty="0" err="1" smtClean="0">
                          <a:effectLst/>
                        </a:rPr>
                        <a:t>patient_id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dirty="0" err="1" smtClean="0">
                          <a:effectLst/>
                        </a:rPr>
                        <a:t>doctor_id</a:t>
                      </a:r>
                      <a:r>
                        <a:rPr lang="en-US" sz="1200" dirty="0" smtClean="0">
                          <a:effectLst/>
                        </a:rPr>
                        <a:t>(FK),</a:t>
                      </a:r>
                      <a:r>
                        <a:rPr lang="en-US" sz="1200" dirty="0" err="1" smtClean="0">
                          <a:effectLst/>
                        </a:rPr>
                        <a:t>test_id</a:t>
                      </a:r>
                      <a:r>
                        <a:rPr lang="en-US" sz="1200" dirty="0" smtClean="0">
                          <a:effectLst/>
                        </a:rPr>
                        <a:t>(FK), 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order_date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Status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  <a:tr h="28186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Lab Result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266700" algn="l"/>
                        </a:tabLst>
                      </a:pPr>
                      <a:r>
                        <a:rPr lang="en-US" sz="1200" dirty="0" err="1" smtClean="0">
                          <a:effectLst/>
                        </a:rPr>
                        <a:t>result_id</a:t>
                      </a:r>
                      <a:r>
                        <a:rPr lang="en-US" sz="1200" dirty="0" smtClean="0">
                          <a:effectLst/>
                        </a:rPr>
                        <a:t>(PK),</a:t>
                      </a:r>
                      <a:r>
                        <a:rPr lang="en-US" sz="1200" dirty="0" err="1" smtClean="0">
                          <a:effectLst/>
                        </a:rPr>
                        <a:t>order_id</a:t>
                      </a:r>
                      <a:r>
                        <a:rPr lang="en-US" sz="1200" dirty="0" smtClean="0">
                          <a:effectLst/>
                        </a:rPr>
                        <a:t>(FK)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result_value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result_date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</a:rPr>
                        <a:t>is_normal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</a:rPr>
                        <a:t> </a:t>
                      </a:r>
                      <a:r>
                        <a:rPr lang="en-US" sz="1200" dirty="0" smtClean="0">
                          <a:effectLst/>
                        </a:rPr>
                        <a:t>Notes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124" marR="17124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691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Normalaization-1NF to 3NF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17434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/>
              <a:t>Why Normalize? To eliminate insertion, update and deletion anomalies and reduce data </a:t>
            </a:r>
            <a:r>
              <a:rPr lang="en-US" dirty="0" err="1" smtClean="0"/>
              <a:t>reedundency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1NF- No Repeating Groups, Atomic </a:t>
            </a:r>
            <a:r>
              <a:rPr lang="en-US" b="1" dirty="0" err="1" smtClean="0"/>
              <a:t>Vlues</a:t>
            </a:r>
            <a:endParaRPr lang="en-US" b="1" dirty="0" smtClean="0"/>
          </a:p>
          <a:p>
            <a:r>
              <a:rPr lang="en-US" dirty="0"/>
              <a:t>Multi-valued attributes (phone numbers, diagnoses, medications) extracted to separate tables</a:t>
            </a:r>
          </a:p>
          <a:p>
            <a:r>
              <a:rPr lang="en-US" dirty="0"/>
              <a:t>Separate fields for phone and </a:t>
            </a:r>
            <a:r>
              <a:rPr lang="en-US" dirty="0" err="1"/>
              <a:t>emergency_phone</a:t>
            </a:r>
            <a:endParaRPr lang="en-US" dirty="0"/>
          </a:p>
          <a:p>
            <a:r>
              <a:rPr lang="en-US" dirty="0"/>
              <a:t>Symptoms/notes stored as TEXT (single string), not arrays</a:t>
            </a:r>
          </a:p>
          <a:p>
            <a:r>
              <a:rPr lang="en-US" dirty="0" smtClean="0"/>
              <a:t>Schema </a:t>
            </a:r>
            <a:r>
              <a:rPr lang="en-US" dirty="0"/>
              <a:t>satisfies </a:t>
            </a:r>
            <a:r>
              <a:rPr lang="en-US" dirty="0" smtClean="0"/>
              <a:t>1NF</a:t>
            </a:r>
          </a:p>
          <a:p>
            <a:pPr marL="0" indent="0">
              <a:buNone/>
            </a:pPr>
            <a:r>
              <a:rPr lang="en-US" b="1" dirty="0" smtClean="0"/>
              <a:t>2NF </a:t>
            </a:r>
            <a:r>
              <a:rPr lang="en-US" b="1" dirty="0"/>
              <a:t>— No Partial Dependencies</a:t>
            </a:r>
          </a:p>
          <a:p>
            <a:r>
              <a:rPr lang="en-US" dirty="0"/>
              <a:t>All tables use single-column surrogate primary keys (AUTO_INCREMENT)</a:t>
            </a:r>
          </a:p>
          <a:p>
            <a:r>
              <a:rPr lang="en-US" dirty="0"/>
              <a:t>No composite keys exist → no partial dependencies possible</a:t>
            </a:r>
          </a:p>
          <a:p>
            <a:r>
              <a:rPr lang="en-US" dirty="0" smtClean="0"/>
              <a:t>Schema </a:t>
            </a:r>
            <a:r>
              <a:rPr lang="en-US" dirty="0"/>
              <a:t>satisfies 2NF</a:t>
            </a:r>
          </a:p>
          <a:p>
            <a:pPr marL="0" indent="0">
              <a:buNone/>
            </a:pPr>
            <a:r>
              <a:rPr lang="en-US" b="1" dirty="0"/>
              <a:t>3NF — No Transitive </a:t>
            </a:r>
            <a:r>
              <a:rPr lang="en-US" b="1" dirty="0" smtClean="0"/>
              <a:t>Dependencies</a:t>
            </a:r>
          </a:p>
          <a:p>
            <a:pPr lvl="0"/>
            <a:r>
              <a:rPr lang="en-US" dirty="0"/>
              <a:t>It is in 2NF, and</a:t>
            </a:r>
            <a:endParaRPr lang="en-US" b="1" dirty="0"/>
          </a:p>
          <a:p>
            <a:pPr lvl="0"/>
            <a:r>
              <a:rPr lang="en-US" dirty="0"/>
              <a:t>There are no transitive dependencies between a primary key and non-primary key attributes (no non-key attribute dependencies on the non-key attribute)</a:t>
            </a:r>
            <a:endParaRPr lang="en-US" b="1" dirty="0"/>
          </a:p>
          <a:p>
            <a:r>
              <a:rPr lang="en-US" dirty="0"/>
              <a:t>So we have to make all data dependent on nothing but the key.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847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44703"/>
            <a:ext cx="8596668" cy="1320800"/>
          </a:xfrm>
        </p:spPr>
        <p:txBody>
          <a:bodyPr/>
          <a:lstStyle/>
          <a:p>
            <a:r>
              <a:rPr lang="en-US" dirty="0" err="1" smtClean="0"/>
              <a:t>Normalzation</a:t>
            </a:r>
            <a:r>
              <a:rPr lang="en-US" dirty="0" smtClean="0"/>
              <a:t>-BCNF Verification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946606"/>
            <a:ext cx="8596668" cy="3880773"/>
          </a:xfrm>
        </p:spPr>
        <p:txBody>
          <a:bodyPr/>
          <a:lstStyle/>
          <a:p>
            <a:r>
              <a:rPr lang="en-US" sz="1500" dirty="0" smtClean="0"/>
              <a:t>BCNF Rule: </a:t>
            </a:r>
          </a:p>
          <a:p>
            <a:pPr marL="0" indent="0">
              <a:buNone/>
            </a:pPr>
            <a:r>
              <a:rPr lang="en-US" sz="1500" dirty="0"/>
              <a:t>A table(relation) is in</a:t>
            </a:r>
            <a:r>
              <a:rPr lang="en-US" sz="1500" b="1" dirty="0"/>
              <a:t> BCNF</a:t>
            </a:r>
            <a:r>
              <a:rPr lang="en-US" sz="1500" dirty="0"/>
              <a:t> if:</a:t>
            </a:r>
          </a:p>
          <a:p>
            <a:pPr lvl="0"/>
            <a:r>
              <a:rPr lang="en-US" sz="1500" dirty="0"/>
              <a:t>it is in</a:t>
            </a:r>
            <a:r>
              <a:rPr lang="en-US" sz="1500" b="1" dirty="0"/>
              <a:t> 3NF</a:t>
            </a:r>
            <a:r>
              <a:rPr lang="en-US" sz="1500" dirty="0"/>
              <a:t>, and</a:t>
            </a:r>
          </a:p>
          <a:p>
            <a:pPr lvl="0"/>
            <a:r>
              <a:rPr lang="en-US" sz="1500" dirty="0"/>
              <a:t>For every </a:t>
            </a:r>
            <a:r>
              <a:rPr lang="en-US" sz="1500" b="1" dirty="0"/>
              <a:t>non-</a:t>
            </a:r>
            <a:r>
              <a:rPr lang="en-US" sz="1500" b="1" dirty="0" err="1"/>
              <a:t>trival</a:t>
            </a:r>
            <a:r>
              <a:rPr lang="en-US" sz="1500" b="1" dirty="0"/>
              <a:t> functional dependency</a:t>
            </a:r>
            <a:r>
              <a:rPr lang="en-US" sz="1500" dirty="0"/>
              <a:t> X → Y, X </a:t>
            </a:r>
            <a:r>
              <a:rPr lang="en-US" sz="1500" b="1" dirty="0"/>
              <a:t>must be a </a:t>
            </a:r>
            <a:r>
              <a:rPr lang="en-US" sz="1500" b="1" dirty="0" err="1"/>
              <a:t>superkey</a:t>
            </a:r>
            <a:r>
              <a:rPr lang="en-US" sz="1500" dirty="0"/>
              <a:t>(a candidate key or the primary key)</a:t>
            </a:r>
          </a:p>
          <a:p>
            <a:pPr marL="0" indent="0">
              <a:buNone/>
            </a:pPr>
            <a:r>
              <a:rPr lang="en-US" sz="1500" dirty="0"/>
              <a:t>BCNF is a stronger version of 3NF that handles cases where a table has multiple overlapping candidate keys.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199266"/>
              </p:ext>
            </p:extLst>
          </p:nvPr>
        </p:nvGraphicFramePr>
        <p:xfrm>
          <a:off x="677334" y="3272899"/>
          <a:ext cx="5937250" cy="3108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660"/>
                <a:gridCol w="1979295"/>
                <a:gridCol w="1979295"/>
              </a:tblGrid>
              <a:tr h="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 dirty="0">
                          <a:effectLst/>
                        </a:rPr>
                        <a:t>NORMAL FORM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>
                          <a:effectLst/>
                        </a:rPr>
                        <a:t>REQUIREMENT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>
                          <a:effectLst/>
                        </a:rPr>
                        <a:t>HOW OUR SCHEMA SATISFIES IT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>
                          <a:effectLst/>
                        </a:rPr>
                        <a:t>1NF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>
                          <a:effectLst/>
                        </a:rPr>
                        <a:t>No repeating groups;atomic values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>
                          <a:effectLst/>
                        </a:rPr>
                        <a:t>Multi-valued attributes extracted to separate tables (Prescription, LabResult,etc.)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>
                          <a:effectLst/>
                        </a:rPr>
                        <a:t>2NF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>
                          <a:effectLst/>
                        </a:rPr>
                        <a:t>No partial dependencies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>
                          <a:effectLst/>
                        </a:rPr>
                        <a:t>All tables use single-column surrogate primary keys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>
                          <a:effectLst/>
                        </a:rPr>
                        <a:t>3NF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 dirty="0">
                          <a:effectLst/>
                        </a:rPr>
                        <a:t>No transitive dependencies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>
                          <a:effectLst/>
                        </a:rPr>
                        <a:t>Related entity attributes stored in their own tables( Dept in Department, Med in Medimication, etc.)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>
                          <a:effectLst/>
                        </a:rPr>
                        <a:t>BCNF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>
                          <a:effectLst/>
                        </a:rPr>
                        <a:t>Every determinant is a superkey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200" dirty="0">
                          <a:effectLst/>
                        </a:rPr>
                        <a:t>All unique attributes (phone, email, </a:t>
                      </a:r>
                      <a:r>
                        <a:rPr lang="en-US" sz="1200" dirty="0" err="1">
                          <a:effectLst/>
                        </a:rPr>
                        <a:t>room_nubmer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test_name</a:t>
                      </a:r>
                      <a:r>
                        <a:rPr lang="en-US" sz="1200" dirty="0">
                          <a:effectLst/>
                        </a:rPr>
                        <a:t> ) are candidate keys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311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Implementation-MySQL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91331"/>
            <a:ext cx="8596668" cy="4675640"/>
          </a:xfrm>
        </p:spPr>
        <p:txBody>
          <a:bodyPr>
            <a:normAutofit fontScale="25000" lnSpcReduction="20000"/>
          </a:bodyPr>
          <a:lstStyle/>
          <a:p>
            <a:r>
              <a:rPr lang="en-US" sz="5600" dirty="0"/>
              <a:t>Implementation Features Used:</a:t>
            </a:r>
          </a:p>
          <a:p>
            <a:r>
              <a:rPr lang="en-US" sz="5600" dirty="0"/>
              <a:t>Primary Keys: AUTO_INCREMENT for unique identification</a:t>
            </a:r>
          </a:p>
          <a:p>
            <a:r>
              <a:rPr lang="en-US" sz="5600" dirty="0"/>
              <a:t>Foreign Keys: Establishing relationships with referential integrity</a:t>
            </a:r>
          </a:p>
          <a:p>
            <a:r>
              <a:rPr lang="en-US" sz="5600" dirty="0"/>
              <a:t>UNIQUE Constraints: Preventing duplicate records (email, phone, </a:t>
            </a:r>
            <a:r>
              <a:rPr lang="en-US" sz="5600" dirty="0" err="1"/>
              <a:t>room_no</a:t>
            </a:r>
            <a:r>
              <a:rPr lang="en-US" sz="5600" dirty="0"/>
              <a:t>, </a:t>
            </a:r>
            <a:r>
              <a:rPr lang="en-US" sz="5600" dirty="0" err="1"/>
              <a:t>test_name</a:t>
            </a:r>
            <a:r>
              <a:rPr lang="en-US" sz="5600" dirty="0"/>
              <a:t>, etc.)</a:t>
            </a:r>
          </a:p>
          <a:p>
            <a:r>
              <a:rPr lang="en-US" sz="5600" dirty="0"/>
              <a:t>Appropriate Data Types: VARCHAR, INT, DATE, TIME, TEXT, DECIMAL, ENUM, BOOLEAN</a:t>
            </a:r>
          </a:p>
          <a:p>
            <a:r>
              <a:rPr lang="en-US" sz="5600" dirty="0"/>
              <a:t>Composite UNIQUE Constraints: Preventing duplicate business records (e.g., same patient-doctor-date-time appointment)</a:t>
            </a:r>
          </a:p>
          <a:p>
            <a:r>
              <a:rPr lang="en-US" sz="5600" dirty="0"/>
              <a:t>Sample Table Definitions</a:t>
            </a:r>
            <a:r>
              <a:rPr lang="en-US" sz="5600" dirty="0" smtClean="0"/>
              <a:t>:</a:t>
            </a:r>
          </a:p>
          <a:p>
            <a:pPr marL="0" indent="0">
              <a:buNone/>
            </a:pPr>
            <a:r>
              <a:rPr lang="en-US" sz="5600" dirty="0"/>
              <a:t>CREATE TABLE Doctor(   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 err="1" smtClean="0"/>
              <a:t>doctor_id</a:t>
            </a:r>
            <a:r>
              <a:rPr lang="en-US" sz="5600" dirty="0" smtClean="0"/>
              <a:t> </a:t>
            </a:r>
            <a:r>
              <a:rPr lang="en-US" sz="5600" dirty="0"/>
              <a:t>INT AUTO_INCREMENT PRIMARY KEY,  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 smtClean="0"/>
              <a:t> </a:t>
            </a:r>
            <a:r>
              <a:rPr lang="en-US" sz="5600" dirty="0" err="1"/>
              <a:t>first_name</a:t>
            </a:r>
            <a:r>
              <a:rPr lang="en-US" sz="5600" dirty="0"/>
              <a:t> VARCHAR(50) NOT NULL,  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 smtClean="0"/>
              <a:t> </a:t>
            </a:r>
            <a:r>
              <a:rPr lang="en-US" sz="5600" dirty="0" err="1"/>
              <a:t>last_name</a:t>
            </a:r>
            <a:r>
              <a:rPr lang="en-US" sz="5600" dirty="0"/>
              <a:t> VARCHAR(50) NOT NULL,  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 smtClean="0"/>
              <a:t> </a:t>
            </a:r>
            <a:r>
              <a:rPr lang="en-US" sz="5600" dirty="0"/>
              <a:t>specialization VARCHAR(100) NOT NULL,   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 smtClean="0"/>
              <a:t>  phone </a:t>
            </a:r>
            <a:r>
              <a:rPr lang="en-US" sz="5600" dirty="0"/>
              <a:t>VARCHAR(20) UNIQUE,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email </a:t>
            </a:r>
            <a:r>
              <a:rPr lang="en-US" sz="5600" dirty="0"/>
              <a:t>VARCHAR(100) </a:t>
            </a:r>
            <a:r>
              <a:rPr lang="en-US" sz="5600" dirty="0" smtClean="0"/>
              <a:t>UNIQUE,</a:t>
            </a:r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</a:t>
            </a:r>
            <a:r>
              <a:rPr lang="en-US" sz="5600" dirty="0" err="1" smtClean="0"/>
              <a:t>dept_id</a:t>
            </a:r>
            <a:r>
              <a:rPr lang="en-US" sz="5600" dirty="0" smtClean="0"/>
              <a:t> </a:t>
            </a:r>
            <a:r>
              <a:rPr lang="en-US" sz="5600" dirty="0"/>
              <a:t>INT,   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 </a:t>
            </a:r>
            <a:r>
              <a:rPr lang="en-US" sz="5600" dirty="0" err="1" smtClean="0"/>
              <a:t>hire_date</a:t>
            </a:r>
            <a:r>
              <a:rPr lang="en-US" sz="5600" dirty="0" smtClean="0"/>
              <a:t> DATE,</a:t>
            </a:r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 FOREIGN </a:t>
            </a:r>
            <a:r>
              <a:rPr lang="en-US" sz="5600" dirty="0"/>
              <a:t>KEY(</a:t>
            </a:r>
            <a:r>
              <a:rPr lang="en-US" sz="5600" dirty="0" err="1"/>
              <a:t>dept_id</a:t>
            </a:r>
            <a:r>
              <a:rPr lang="en-US" sz="5600" dirty="0"/>
              <a:t>) REFERENCES </a:t>
            </a:r>
            <a:r>
              <a:rPr lang="en-US" sz="5600" dirty="0" smtClean="0"/>
              <a:t>Department(</a:t>
            </a:r>
            <a:r>
              <a:rPr lang="en-US" sz="5600" dirty="0" err="1" smtClean="0"/>
              <a:t>dept_id</a:t>
            </a:r>
            <a:r>
              <a:rPr lang="en-US" sz="5600" dirty="0" smtClean="0"/>
              <a:t>)</a:t>
            </a:r>
          </a:p>
          <a:p>
            <a:pPr marL="0" indent="0">
              <a:buNone/>
            </a:pPr>
            <a:r>
              <a:rPr lang="en-US" sz="5600" dirty="0" smtClean="0"/>
              <a:t>);</a:t>
            </a:r>
            <a:br>
              <a:rPr lang="en-US" sz="5600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265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0596"/>
            <a:ext cx="8596668" cy="1320800"/>
          </a:xfrm>
        </p:spPr>
        <p:txBody>
          <a:bodyPr/>
          <a:lstStyle/>
          <a:p>
            <a:r>
              <a:rPr lang="en-US" dirty="0" smtClean="0"/>
              <a:t>Implementation </a:t>
            </a:r>
            <a:r>
              <a:rPr lang="en-US" dirty="0"/>
              <a:t>— </a:t>
            </a:r>
            <a:r>
              <a:rPr lang="en-US" dirty="0" err="1"/>
              <a:t>MongoDB</a:t>
            </a:r>
            <a:r>
              <a:rPr lang="en-US" dirty="0"/>
              <a:t> Design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700996"/>
            <a:ext cx="8596668" cy="5343297"/>
          </a:xfrm>
        </p:spPr>
        <p:txBody>
          <a:bodyPr>
            <a:noAutofit/>
          </a:bodyPr>
          <a:lstStyle/>
          <a:p>
            <a:r>
              <a:rPr lang="en-US" sz="1500" dirty="0"/>
              <a:t>Why </a:t>
            </a:r>
            <a:r>
              <a:rPr lang="en-US" sz="1500" dirty="0" err="1"/>
              <a:t>MongoDB</a:t>
            </a:r>
            <a:r>
              <a:rPr lang="en-US" sz="1500" dirty="0"/>
              <a:t>? To handle semi-structured, hierarchical healthcare data that varies from patient to patient — where embedded documents and dynamic schemas are </a:t>
            </a:r>
            <a:r>
              <a:rPr lang="en-US" sz="1500" dirty="0" smtClean="0"/>
              <a:t>advantageous. </a:t>
            </a:r>
          </a:p>
          <a:p>
            <a:r>
              <a:rPr lang="en-US" sz="1500" dirty="0"/>
              <a:t>Three Primary Collections: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500" dirty="0" smtClean="0"/>
              <a:t>Patients Collection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500" dirty="0" smtClean="0"/>
              <a:t>Staff collection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500" dirty="0" smtClean="0"/>
              <a:t>Inventory collection</a:t>
            </a:r>
          </a:p>
          <a:p>
            <a:pPr marL="0" indent="0">
              <a:buNone/>
            </a:pPr>
            <a:r>
              <a:rPr lang="en-US" sz="1500" dirty="0" smtClean="0"/>
              <a:t>example: let us see the inventory collection:</a:t>
            </a:r>
          </a:p>
          <a:p>
            <a:pPr marL="0" indent="0">
              <a:buNone/>
            </a:pPr>
            <a:r>
              <a:rPr lang="en-US" sz="1500" dirty="0"/>
              <a:t>{</a:t>
            </a:r>
          </a:p>
          <a:p>
            <a:pPr marL="0" indent="0">
              <a:buNone/>
            </a:pPr>
            <a:r>
              <a:rPr lang="en-US" sz="1500" dirty="0"/>
              <a:t>  "</a:t>
            </a:r>
            <a:r>
              <a:rPr lang="en-US" sz="1500" dirty="0" err="1"/>
              <a:t>medication_id</a:t>
            </a:r>
            <a:r>
              <a:rPr lang="en-US" sz="1500" dirty="0"/>
              <a:t>": 301,</a:t>
            </a:r>
          </a:p>
          <a:p>
            <a:pPr marL="0" indent="0">
              <a:buNone/>
            </a:pPr>
            <a:r>
              <a:rPr lang="en-US" sz="1500" dirty="0"/>
              <a:t>  "</a:t>
            </a:r>
            <a:r>
              <a:rPr lang="en-US" sz="1500" dirty="0" err="1"/>
              <a:t>med_name</a:t>
            </a:r>
            <a:r>
              <a:rPr lang="en-US" sz="1500" dirty="0"/>
              <a:t>": "</a:t>
            </a:r>
            <a:r>
              <a:rPr lang="en-US" sz="1500" dirty="0" err="1"/>
              <a:t>Paracetamol</a:t>
            </a:r>
            <a:r>
              <a:rPr lang="en-US" sz="1500" dirty="0"/>
              <a:t>",</a:t>
            </a:r>
          </a:p>
          <a:p>
            <a:pPr marL="0" indent="0">
              <a:buNone/>
            </a:pPr>
            <a:r>
              <a:rPr lang="en-US" sz="1500" dirty="0"/>
              <a:t>  "</a:t>
            </a:r>
            <a:r>
              <a:rPr lang="en-US" sz="1500" dirty="0" err="1"/>
              <a:t>dosage_form</a:t>
            </a:r>
            <a:r>
              <a:rPr lang="en-US" sz="1500" dirty="0"/>
              <a:t>": "Tablet",</a:t>
            </a:r>
          </a:p>
          <a:p>
            <a:pPr marL="0" indent="0">
              <a:buNone/>
            </a:pPr>
            <a:r>
              <a:rPr lang="en-US" sz="1500" dirty="0"/>
              <a:t>  "</a:t>
            </a:r>
            <a:r>
              <a:rPr lang="en-US" sz="1500" dirty="0" err="1"/>
              <a:t>stock_qty</a:t>
            </a:r>
            <a:r>
              <a:rPr lang="en-US" sz="1500" dirty="0"/>
              <a:t>": 500,</a:t>
            </a:r>
          </a:p>
          <a:p>
            <a:pPr marL="0" indent="0">
              <a:buNone/>
            </a:pPr>
            <a:r>
              <a:rPr lang="en-US" sz="1500" dirty="0"/>
              <a:t>  "</a:t>
            </a:r>
            <a:r>
              <a:rPr lang="en-US" sz="1500" dirty="0" err="1"/>
              <a:t>unit_cost</a:t>
            </a:r>
            <a:r>
              <a:rPr lang="en-US" sz="1500" dirty="0"/>
              <a:t>": 5.50</a:t>
            </a:r>
          </a:p>
          <a:p>
            <a:pPr marL="0" indent="0">
              <a:buNone/>
            </a:pPr>
            <a:r>
              <a:rPr lang="en-US" sz="1500" dirty="0"/>
              <a:t>}</a:t>
            </a:r>
            <a:endParaRPr lang="en-US" sz="1500" dirty="0" smtClean="0"/>
          </a:p>
          <a:p>
            <a:r>
              <a:rPr lang="en-US" sz="1500" dirty="0" smtClean="0"/>
              <a:t>And the crud operations: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 err="1"/>
              <a:t>db.patients.insertOne</a:t>
            </a:r>
            <a:r>
              <a:rPr lang="en-US" sz="1500" dirty="0"/>
              <a:t>({ </a:t>
            </a:r>
            <a:r>
              <a:rPr lang="en-US" sz="1500" dirty="0" err="1"/>
              <a:t>patient_id</a:t>
            </a:r>
            <a:r>
              <a:rPr lang="en-US" sz="1500" dirty="0"/>
              <a:t>: 101, </a:t>
            </a:r>
            <a:r>
              <a:rPr lang="en-US" sz="1500" dirty="0" err="1"/>
              <a:t>first_name</a:t>
            </a:r>
            <a:r>
              <a:rPr lang="en-US" sz="1500" dirty="0"/>
              <a:t>: "</a:t>
            </a:r>
            <a:r>
              <a:rPr lang="en-US" sz="1500" dirty="0" err="1"/>
              <a:t>Abebe</a:t>
            </a:r>
            <a:r>
              <a:rPr lang="en-US" sz="1500" dirty="0"/>
              <a:t>", </a:t>
            </a:r>
            <a:r>
              <a:rPr lang="en-US" sz="1500" dirty="0" err="1"/>
              <a:t>last_name</a:t>
            </a:r>
            <a:r>
              <a:rPr lang="en-US" sz="1500" dirty="0"/>
              <a:t>: "</a:t>
            </a:r>
            <a:r>
              <a:rPr lang="en-US" sz="1500" dirty="0" err="1"/>
              <a:t>Bikila</a:t>
            </a:r>
            <a:r>
              <a:rPr lang="en-US" sz="1500" dirty="0"/>
              <a:t>" })</a:t>
            </a:r>
          </a:p>
          <a:p>
            <a:pPr marL="0" indent="0">
              <a:buNone/>
            </a:pPr>
            <a:r>
              <a:rPr lang="en-US" sz="1500" dirty="0" err="1"/>
              <a:t>db.patients.find</a:t>
            </a:r>
            <a:r>
              <a:rPr lang="en-US" sz="1500" dirty="0"/>
              <a:t>({ </a:t>
            </a:r>
            <a:r>
              <a:rPr lang="en-US" sz="1500" dirty="0" err="1"/>
              <a:t>blood_type</a:t>
            </a:r>
            <a:r>
              <a:rPr lang="en-US" sz="1500" dirty="0"/>
              <a:t>: "A+" })</a:t>
            </a:r>
          </a:p>
          <a:p>
            <a:pPr marL="0" indent="0">
              <a:buNone/>
            </a:pPr>
            <a:r>
              <a:rPr lang="en-US" sz="1500" dirty="0" err="1"/>
              <a:t>db.inventory.updateOne</a:t>
            </a:r>
            <a:r>
              <a:rPr lang="en-US" sz="1500" dirty="0"/>
              <a:t>({ </a:t>
            </a:r>
            <a:r>
              <a:rPr lang="en-US" sz="1500" dirty="0" err="1"/>
              <a:t>med_name</a:t>
            </a:r>
            <a:r>
              <a:rPr lang="en-US" sz="1500" dirty="0"/>
              <a:t>: "</a:t>
            </a:r>
            <a:r>
              <a:rPr lang="en-US" sz="1500" dirty="0" err="1"/>
              <a:t>Paracetamol</a:t>
            </a:r>
            <a:r>
              <a:rPr lang="en-US" sz="1500" dirty="0"/>
              <a:t>" }, { $set: { </a:t>
            </a:r>
            <a:r>
              <a:rPr lang="en-US" sz="1500" dirty="0" err="1"/>
              <a:t>stock_qty</a:t>
            </a:r>
            <a:r>
              <a:rPr lang="en-US" sz="1500" dirty="0"/>
              <a:t>: 450 } })</a:t>
            </a:r>
          </a:p>
        </p:txBody>
      </p:sp>
    </p:spTree>
    <p:extLst>
      <p:ext uri="{BB962C8B-B14F-4D97-AF65-F5344CB8AC3E}">
        <p14:creationId xmlns:p14="http://schemas.microsoft.com/office/powerpoint/2010/main" val="4268057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85750"/>
            <a:ext cx="8596668" cy="1320800"/>
          </a:xfrm>
        </p:spPr>
        <p:txBody>
          <a:bodyPr/>
          <a:lstStyle/>
          <a:p>
            <a:r>
              <a:rPr lang="en-US" dirty="0" smtClean="0"/>
              <a:t>Input Forms &amp; Output Reports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946150"/>
            <a:ext cx="8596668" cy="3880773"/>
          </a:xfrm>
        </p:spPr>
        <p:txBody>
          <a:bodyPr/>
          <a:lstStyle/>
          <a:p>
            <a:r>
              <a:rPr lang="en-US" dirty="0"/>
              <a:t>Input Forms (4 Key Forms):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469637"/>
              </p:ext>
            </p:extLst>
          </p:nvPr>
        </p:nvGraphicFramePr>
        <p:xfrm>
          <a:off x="677334" y="1463040"/>
          <a:ext cx="781896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322"/>
                <a:gridCol w="2606322"/>
                <a:gridCol w="2606322"/>
              </a:tblGrid>
              <a:tr h="270002">
                <a:tc>
                  <a:txBody>
                    <a:bodyPr/>
                    <a:lstStyle/>
                    <a:p>
                      <a:r>
                        <a:rPr lang="en-US" sz="1800" b="0" i="0" kern="1200" cap="all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FormKey</a:t>
                      </a:r>
                      <a:r>
                        <a:rPr lang="en-US" sz="1800" b="0" i="0" kern="1200" cap="all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Fields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cap="all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Fields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cap="all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 Action</a:t>
                      </a:r>
                      <a:endParaRPr lang="en-US" dirty="0"/>
                    </a:p>
                  </a:txBody>
                  <a:tcPr/>
                </a:tc>
              </a:tr>
              <a:tr h="1080008">
                <a:tc>
                  <a:txBody>
                    <a:bodyPr/>
                    <a:lstStyle/>
                    <a:p>
                      <a:pPr fontAlgn="base"/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Patient Registration</a:t>
                      </a:r>
                      <a:endParaRPr lang="en-US">
                        <a:solidFill>
                          <a:srgbClr val="171717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solidFill>
                            <a:srgbClr val="171717"/>
                          </a:solidFill>
                          <a:effectLst/>
                        </a:rPr>
                        <a:t>First Name*, Last Name*, Gender*, DOB*, Phone, Email, Address, Blood Type, Emergency Contact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INSERT INTO Patient</a:t>
                      </a:r>
                    </a:p>
                  </a:txBody>
                  <a:tcPr anchor="ctr"/>
                </a:tc>
              </a:tr>
              <a:tr h="675005">
                <a:tc>
                  <a:txBody>
                    <a:bodyPr/>
                    <a:lstStyle/>
                    <a:p>
                      <a:pPr fontAlgn="base"/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Appointment Booking</a:t>
                      </a:r>
                      <a:endParaRPr lang="en-US">
                        <a:solidFill>
                          <a:srgbClr val="171717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Patient ID*, Doctor* (dropdown), Date*, Time*, Reason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INSERT INTO Appointment</a:t>
                      </a:r>
                    </a:p>
                  </a:txBody>
                  <a:tcPr anchor="ctr"/>
                </a:tc>
              </a:tr>
              <a:tr h="877506">
                <a:tc>
                  <a:txBody>
                    <a:bodyPr/>
                    <a:lstStyle/>
                    <a:p>
                      <a:pPr fontAlgn="base"/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Patient Admission</a:t>
                      </a:r>
                      <a:endParaRPr lang="en-US">
                        <a:solidFill>
                          <a:srgbClr val="171717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Patient ID*, Room* (available only), Attending Doctor*, Admission Date*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INSERT INTO Admission + UPDATE Room SET status='Occupied'</a:t>
                      </a:r>
                    </a:p>
                  </a:txBody>
                  <a:tcPr anchor="ctr"/>
                </a:tc>
              </a:tr>
              <a:tr h="1080008">
                <a:tc>
                  <a:txBody>
                    <a:bodyPr/>
                    <a:lstStyle/>
                    <a:p>
                      <a:pPr fontAlgn="base"/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Prescription Entry</a:t>
                      </a:r>
                      <a:endParaRPr lang="en-US">
                        <a:solidFill>
                          <a:srgbClr val="171717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Medical Record ID*, Medication* (from inventory), Frequency*, Duration*, Quantity*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solidFill>
                            <a:srgbClr val="171717"/>
                          </a:solidFill>
                          <a:effectLst/>
                        </a:rPr>
                        <a:t>INSERT INTO Prescription + UPDATE Medication SET </a:t>
                      </a:r>
                      <a:r>
                        <a:rPr lang="en-US" dirty="0" err="1">
                          <a:solidFill>
                            <a:srgbClr val="171717"/>
                          </a:solidFill>
                          <a:effectLst/>
                        </a:rPr>
                        <a:t>stock_qty</a:t>
                      </a:r>
                      <a:r>
                        <a:rPr lang="en-US" dirty="0">
                          <a:solidFill>
                            <a:srgbClr val="171717"/>
                          </a:solidFill>
                          <a:effectLst/>
                        </a:rPr>
                        <a:t> = </a:t>
                      </a:r>
                      <a:r>
                        <a:rPr lang="en-US" dirty="0" err="1">
                          <a:solidFill>
                            <a:srgbClr val="171717"/>
                          </a:solidFill>
                          <a:effectLst/>
                        </a:rPr>
                        <a:t>stock_qty</a:t>
                      </a:r>
                      <a:r>
                        <a:rPr lang="en-US" dirty="0">
                          <a:solidFill>
                            <a:srgbClr val="171717"/>
                          </a:solidFill>
                          <a:effectLst/>
                        </a:rPr>
                        <a:t> - quantity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539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6050"/>
            <a:ext cx="8596668" cy="6007100"/>
          </a:xfrm>
        </p:spPr>
        <p:txBody>
          <a:bodyPr/>
          <a:lstStyle/>
          <a:p>
            <a:r>
              <a:rPr lang="en-US" dirty="0"/>
              <a:t>Output Reports (3 Key Reports):</a:t>
            </a:r>
          </a:p>
          <a:p>
            <a:pPr marL="0" indent="0">
              <a:buNone/>
            </a:pPr>
            <a:r>
              <a:rPr lang="en-US" dirty="0"/>
              <a:t>Report 1: Patient Medical Summary (Query-Based)</a:t>
            </a:r>
          </a:p>
          <a:p>
            <a:r>
              <a:rPr lang="en-US" dirty="0"/>
              <a:t>Consolidated view: patient profile → appointments → admissions → diagnoses → prescriptions → lab results</a:t>
            </a:r>
          </a:p>
          <a:p>
            <a:r>
              <a:rPr lang="en-US" dirty="0"/>
              <a:t>Example: </a:t>
            </a:r>
            <a:r>
              <a:rPr lang="en-US" dirty="0" err="1"/>
              <a:t>Abebe</a:t>
            </a:r>
            <a:r>
              <a:rPr lang="en-US" dirty="0"/>
              <a:t> </a:t>
            </a:r>
            <a:r>
              <a:rPr lang="en-US" dirty="0" err="1"/>
              <a:t>Kebede</a:t>
            </a:r>
            <a:r>
              <a:rPr lang="en-US" dirty="0"/>
              <a:t>, M, 35yr, O+ | 3 appointments | Hypertension, Type 2 Diabetes | Fasting Glucose: 145 mg/</a:t>
            </a:r>
            <a:r>
              <a:rPr lang="en-US" dirty="0" err="1"/>
              <a:t>dL</a:t>
            </a:r>
            <a:r>
              <a:rPr lang="en-US" dirty="0"/>
              <a:t> (Abnormal</a:t>
            </a:r>
            <a:r>
              <a:rPr lang="en-US" dirty="0" smtClean="0"/>
              <a:t>)</a:t>
            </a:r>
          </a:p>
          <a:p>
            <a:r>
              <a:rPr lang="en-US" dirty="0" smtClean="0"/>
              <a:t>Report 3:Bed occupancy report</a:t>
            </a:r>
          </a:p>
          <a:p>
            <a:pPr marL="0" indent="0">
              <a:buNone/>
            </a:pPr>
            <a:r>
              <a:rPr lang="en-US" dirty="0" smtClean="0"/>
              <a:t>For example we can see the second report.</a:t>
            </a:r>
          </a:p>
          <a:p>
            <a:r>
              <a:rPr lang="en-US" dirty="0"/>
              <a:t>Report 2: Department Workload Analysis (Aggregation)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40330"/>
              </p:ext>
            </p:extLst>
          </p:nvPr>
        </p:nvGraphicFramePr>
        <p:xfrm>
          <a:off x="677334" y="3906520"/>
          <a:ext cx="8128002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pPr algn="l" fontAlgn="b" latinLnBrk="0"/>
                      <a:r>
                        <a:rPr lang="en-US" b="0" dirty="0">
                          <a:solidFill>
                            <a:srgbClr val="101828"/>
                          </a:solidFill>
                          <a:effectLst/>
                        </a:rPr>
                        <a:t>Department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 latinLnBrk="0"/>
                      <a:r>
                        <a:rPr lang="en-US" b="0" dirty="0">
                          <a:solidFill>
                            <a:srgbClr val="101828"/>
                          </a:solidFill>
                          <a:effectLst/>
                        </a:rPr>
                        <a:t>Doctors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 latinLnBrk="0"/>
                      <a:r>
                        <a:rPr lang="en-US" b="0" dirty="0">
                          <a:solidFill>
                            <a:srgbClr val="101828"/>
                          </a:solidFill>
                          <a:effectLst/>
                        </a:rPr>
                        <a:t>Appointments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 latinLnBrk="0"/>
                      <a:r>
                        <a:rPr lang="en-US" b="0" dirty="0">
                          <a:solidFill>
                            <a:srgbClr val="101828"/>
                          </a:solidFill>
                          <a:effectLst/>
                        </a:rPr>
                        <a:t>Active Admissions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 latinLnBrk="0"/>
                      <a:r>
                        <a:rPr lang="en-US" b="0">
                          <a:solidFill>
                            <a:srgbClr val="101828"/>
                          </a:solidFill>
                          <a:effectLst/>
                        </a:rPr>
                        <a:t>Revenue (ETB)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 latinLnBrk="0"/>
                      <a:r>
                        <a:rPr lang="en-US" b="0">
                          <a:solidFill>
                            <a:srgbClr val="101828"/>
                          </a:solidFill>
                          <a:effectLst/>
                        </a:rPr>
                        <a:t>Department</a:t>
                      </a:r>
                    </a:p>
                  </a:txBody>
                  <a:tcPr anchor="b"/>
                </a:tc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Internal Medicine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solidFill>
                            <a:srgbClr val="171717"/>
                          </a:solidFill>
                          <a:effectLst/>
                        </a:rPr>
                        <a:t>285,000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Internal Medicine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Surgery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520,000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Surgery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Pediatrics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178,500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Pediatrics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solidFill>
                            <a:srgbClr val="171717"/>
                          </a:solidFill>
                          <a:effectLst/>
                        </a:rPr>
                        <a:t>Cardiology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solidFill>
                            <a:srgbClr val="171717"/>
                          </a:solidFill>
                          <a:effectLst/>
                        </a:rPr>
                        <a:t>312,000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solidFill>
                            <a:srgbClr val="171717"/>
                          </a:solidFill>
                          <a:effectLst/>
                        </a:rPr>
                        <a:t>Cardiology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05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and 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446405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400" b="1" dirty="0"/>
              <a:t>Results Achieved</a:t>
            </a:r>
          </a:p>
          <a:p>
            <a:r>
              <a:rPr lang="en-US" sz="7400" b="1" dirty="0"/>
              <a:t>MySQL:</a:t>
            </a:r>
            <a:r>
              <a:rPr lang="en-US" sz="7400" dirty="0"/>
              <a:t> 16 fully normalized BCNF tables</a:t>
            </a:r>
          </a:p>
          <a:p>
            <a:r>
              <a:rPr lang="en-US" sz="7400" b="1" dirty="0" err="1"/>
              <a:t>MongoDB</a:t>
            </a:r>
            <a:r>
              <a:rPr lang="en-US" sz="7400" b="1" dirty="0"/>
              <a:t>:</a:t>
            </a:r>
            <a:r>
              <a:rPr lang="en-US" sz="7400" dirty="0"/>
              <a:t> 3 flexible document collections</a:t>
            </a:r>
          </a:p>
          <a:p>
            <a:r>
              <a:rPr lang="en-US" sz="7400" b="1" dirty="0"/>
              <a:t>Quality:</a:t>
            </a:r>
            <a:r>
              <a:rPr lang="en-US" sz="7400" dirty="0"/>
              <a:t> Zero insertion, update, or deletion anomalies</a:t>
            </a:r>
          </a:p>
          <a:p>
            <a:r>
              <a:rPr lang="en-US" sz="7400" b="1" dirty="0"/>
              <a:t>Interface:</a:t>
            </a:r>
            <a:r>
              <a:rPr lang="en-US" sz="7400" dirty="0"/>
              <a:t> 4 input forms &amp; 3 output reports mapped</a:t>
            </a:r>
          </a:p>
          <a:p>
            <a:r>
              <a:rPr lang="en-US" sz="7400" b="1" dirty="0"/>
              <a:t>Integrity:</a:t>
            </a:r>
            <a:r>
              <a:rPr lang="en-US" sz="7400" dirty="0"/>
              <a:t> Strict constraints (FKs, UNIQUE, ENUMs)</a:t>
            </a:r>
          </a:p>
          <a:p>
            <a:pPr marL="0" indent="0">
              <a:buNone/>
            </a:pPr>
            <a:r>
              <a:rPr lang="en-US" sz="7400" b="1" dirty="0"/>
              <a:t>Benefits Delivered</a:t>
            </a:r>
          </a:p>
          <a:p>
            <a:r>
              <a:rPr lang="en-US" sz="7400" b="1" dirty="0"/>
              <a:t>Patient Care:</a:t>
            </a:r>
            <a:r>
              <a:rPr lang="en-US" sz="7400" dirty="0"/>
              <a:t> Unified records, faster labs, conflict detection</a:t>
            </a:r>
          </a:p>
          <a:p>
            <a:r>
              <a:rPr lang="en-US" sz="7400" b="1" dirty="0"/>
              <a:t>Efficiency:</a:t>
            </a:r>
            <a:r>
              <a:rPr lang="en-US" sz="7400" dirty="0"/>
              <a:t> Automated tracking, no duplicate data entry</a:t>
            </a:r>
          </a:p>
          <a:p>
            <a:r>
              <a:rPr lang="en-US" sz="7400" b="1" dirty="0"/>
              <a:t>Decision Support:</a:t>
            </a:r>
            <a:r>
              <a:rPr lang="en-US" sz="7400" dirty="0"/>
              <a:t> Real-time workload &amp; revenue analytics</a:t>
            </a:r>
          </a:p>
          <a:p>
            <a:r>
              <a:rPr lang="en-US" sz="7400" b="1" dirty="0"/>
              <a:t>Data Consistency:</a:t>
            </a:r>
            <a:r>
              <a:rPr lang="en-US" sz="7400" dirty="0"/>
              <a:t> 100% validated, redundancy </a:t>
            </a:r>
            <a:r>
              <a:rPr lang="en-US" sz="7400" dirty="0" smtClean="0"/>
              <a:t>eliminated</a:t>
            </a:r>
          </a:p>
          <a:p>
            <a:pPr marL="0" indent="0">
              <a:buNone/>
            </a:pPr>
            <a:r>
              <a:rPr lang="en-US" sz="7400" b="1" dirty="0" smtClean="0"/>
              <a:t>Conclusion </a:t>
            </a:r>
          </a:p>
          <a:p>
            <a:r>
              <a:rPr lang="en-US" sz="7400" dirty="0"/>
              <a:t>Combining MySQL (for strict relational integrity) with </a:t>
            </a:r>
            <a:r>
              <a:rPr lang="en-US" sz="7400" dirty="0" err="1"/>
              <a:t>MongoDB</a:t>
            </a:r>
            <a:r>
              <a:rPr lang="en-US" sz="7400" dirty="0"/>
              <a:t> (for flexible healthcare data) provides a robust, scalable solution that transforms hospital operations, improves patient care, and empowers data-driven decision making.</a:t>
            </a:r>
            <a:endParaRPr lang="en-US" sz="7400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5513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222</TotalTime>
  <Words>2062</Words>
  <Application>Microsoft Office PowerPoint</Application>
  <PresentationFormat>Widescreen</PresentationFormat>
  <Paragraphs>374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SimSun</vt:lpstr>
      <vt:lpstr>Arial</vt:lpstr>
      <vt:lpstr>Calibri</vt:lpstr>
      <vt:lpstr>Times New Roman</vt:lpstr>
      <vt:lpstr>Trebuchet MS</vt:lpstr>
      <vt:lpstr>Wingdings</vt:lpstr>
      <vt:lpstr>Wingdings 3</vt:lpstr>
      <vt:lpstr>Facet</vt:lpstr>
      <vt:lpstr>Addis Ababa Science &amp; Technology University Department of Software Engineering Database System Course </vt:lpstr>
      <vt:lpstr>Introduction and Background </vt:lpstr>
      <vt:lpstr>Problem Statement</vt:lpstr>
      <vt:lpstr>Problem Statement – Critical Problems Identified</vt:lpstr>
      <vt:lpstr>Objectives and Scope</vt:lpstr>
      <vt:lpstr>Methodology &amp;Tools</vt:lpstr>
      <vt:lpstr>Conceptual Database Design - Entities</vt:lpstr>
      <vt:lpstr>Conceptual Database Design- Relationships ERD</vt:lpstr>
      <vt:lpstr>Logical Database Design</vt:lpstr>
      <vt:lpstr>Normalaization-1NF to 3NF</vt:lpstr>
      <vt:lpstr>Normalzation-BCNF Verification</vt:lpstr>
      <vt:lpstr>Implementation-MySQL Schema</vt:lpstr>
      <vt:lpstr>Implementation — MongoDB Design </vt:lpstr>
      <vt:lpstr>Input Forms &amp; Output Reports</vt:lpstr>
      <vt:lpstr>s</vt:lpstr>
      <vt:lpstr>Results and Benefits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24</cp:revision>
  <dcterms:created xsi:type="dcterms:W3CDTF">2026-05-22T15:30:08Z</dcterms:created>
  <dcterms:modified xsi:type="dcterms:W3CDTF">2026-05-22T19:12:45Z</dcterms:modified>
</cp:coreProperties>
</file>